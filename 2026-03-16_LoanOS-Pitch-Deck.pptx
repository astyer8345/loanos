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109728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59952" y="0"/>
            <a:ext cx="109728" cy="6858000"/>
          </a:xfrm>
          <a:prstGeom prst="rect">
            <a:avLst/>
          </a:prstGeom>
          <a:solidFill>
            <a:srgbClr val="0F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0"/>
            <a:ext cx="109728" cy="685800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6256" y="0"/>
            <a:ext cx="109728" cy="685800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79408" y="0"/>
            <a:ext cx="109728" cy="6858000"/>
          </a:xfrm>
          <a:prstGeom prst="rect">
            <a:avLst/>
          </a:prstGeom>
          <a:solidFill>
            <a:srgbClr val="0F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52560" y="0"/>
            <a:ext cx="109728" cy="6858000"/>
          </a:xfrm>
          <a:prstGeom prst="rect">
            <a:avLst/>
          </a:prstGeom>
          <a:solidFill>
            <a:srgbClr val="0F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25712" y="0"/>
            <a:ext cx="109728" cy="6858000"/>
          </a:xfrm>
          <a:prstGeom prst="rect">
            <a:avLst/>
          </a:prstGeom>
          <a:solidFill>
            <a:srgbClr val="0F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98864" y="0"/>
            <a:ext cx="109728" cy="685800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72016" y="0"/>
            <a:ext cx="109728" cy="6858000"/>
          </a:xfrm>
          <a:prstGeom prst="rect">
            <a:avLst/>
          </a:prstGeom>
          <a:solidFill>
            <a:srgbClr val="0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45168" y="0"/>
            <a:ext cx="109728" cy="6858000"/>
          </a:xfrm>
          <a:prstGeom prst="rect">
            <a:avLst/>
          </a:prstGeom>
          <a:solidFill>
            <a:srgbClr val="0F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8320" y="0"/>
            <a:ext cx="109728" cy="6858000"/>
          </a:xfrm>
          <a:prstGeom prst="rect">
            <a:avLst/>
          </a:prstGeom>
          <a:solidFill>
            <a:srgbClr val="0F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91472" y="0"/>
            <a:ext cx="109728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64624" y="0"/>
            <a:ext cx="109728" cy="685800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37776" y="0"/>
            <a:ext cx="109728" cy="6858000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10928" y="0"/>
            <a:ext cx="109728" cy="6858000"/>
          </a:xfrm>
          <a:prstGeom prst="rect">
            <a:avLst/>
          </a:prstGeom>
          <a:solidFill>
            <a:srgbClr val="0F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0" y="0"/>
            <a:ext cx="109728" cy="6858000"/>
          </a:xfrm>
          <a:prstGeom prst="rect">
            <a:avLst/>
          </a:prstGeom>
          <a:solidFill>
            <a:srgbClr val="0F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57232" y="0"/>
            <a:ext cx="109728" cy="685800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30384" y="0"/>
            <a:ext cx="109728" cy="6858000"/>
          </a:xfrm>
          <a:prstGeom prst="rect">
            <a:avLst/>
          </a:prstGeom>
          <a:solidFill>
            <a:srgbClr val="0F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03536" y="0"/>
            <a:ext cx="109728" cy="6858000"/>
          </a:xfrm>
          <a:prstGeom prst="rect">
            <a:avLst/>
          </a:prstGeom>
          <a:solidFill>
            <a:srgbClr val="0F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76688" y="0"/>
            <a:ext cx="109728" cy="685800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1645920"/>
            <a:ext cx="54864" cy="2926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16002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9A84C"/>
                </a:solidFill>
                <a:latin typeface="IBM Plex Mono"/>
              </a:rPr>
              <a:t>LoanOS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743200"/>
            <a:ext cx="64008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8346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</a:rPr>
              <a:t>The Mortgage Platform Built by a Working 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566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Inter"/>
              </a:rPr>
              <a:t>Replace your CRM, your presentation software, and your manual follow-up
with one AI-powered platform.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263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BM Plex Mono"/>
              </a:rPr>
              <a:t>Adam Styer  ·  Senior Loan Officer  ·  Austin, TX  ·  NMLS #513013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263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IBM Plex Mono"/>
              </a:rPr>
              <a:t>adam@thestyerteam.com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274320"/>
            <a:ext cx="2286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7432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Most independent loan officers run 5–7 disconnected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210312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08760"/>
            <a:ext cx="21031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5819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Jungo / Salesforce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$200/mo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9192" y="1508760"/>
            <a:ext cx="210312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9192" y="1508760"/>
            <a:ext cx="21031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5819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Mortgage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$99/mo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6904" y="1508760"/>
            <a:ext cx="210312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46904" y="1508760"/>
            <a:ext cx="21031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2" y="15819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Zapier Automations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$50–100/mo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4616" y="1508760"/>
            <a:ext cx="210312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14616" y="1508760"/>
            <a:ext cx="21031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344" y="15819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Spreadsheets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Free but deadly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82328" y="1508760"/>
            <a:ext cx="210312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82328" y="1508760"/>
            <a:ext cx="21031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92056" y="15819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+ Their LOS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2056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$0–50/mo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C9A84C"/>
                </a:solidFill>
                <a:latin typeface="Inter"/>
              </a:rPr>
              <a:t>=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880360"/>
            <a:ext cx="512064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2880360"/>
            <a:ext cx="50292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9443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A84C"/>
                </a:solidFill>
                <a:latin typeface="IBM Plex Mono"/>
              </a:rPr>
              <a:t>$400–600 / 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401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5–10 hours per week of manual work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2880360"/>
            <a:ext cx="59436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2160" y="2880360"/>
            <a:ext cx="50292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292608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Inter"/>
              </a:rPr>
              <a:t>"The average independent LO spends 6–8 hours per week
on communication tasks that don't require human judgment."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160520"/>
            <a:ext cx="1133856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2519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The tools don't talk to each other. The LO becomes the integration layer. That's the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274320"/>
            <a:ext cx="2286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7432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The Origin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Built from the inside.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1133856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54864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361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1">
                <a:solidFill>
                  <a:srgbClr val="C9A84C"/>
                </a:solidFill>
                <a:latin typeface="Inter"/>
              </a:rPr>
              <a:t>"I was that LO."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468880"/>
            <a:ext cx="50292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1,000+ loans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Austin, TX  ·  Independent broker since 2017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66160"/>
            <a:ext cx="50292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$400+/mo in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That didn't talk to each other.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663440"/>
            <a:ext cx="50292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Hired a full-time admin.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January 2025 — replaced her with AI automation.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468880"/>
            <a:ext cx="50292" cy="1005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68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No existing tool did it 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80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CRM + pipeline + automations + AI = separate subscriptions.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703320"/>
            <a:ext cx="50292" cy="1005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So he built LoanOS.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A platform to run the whole operation — from one screen.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423160"/>
            <a:ext cx="27432" cy="3291840"/>
          </a:xfrm>
          <a:prstGeom prst="rect">
            <a:avLst/>
          </a:prstGeom>
          <a:solidFill>
            <a:srgbClr val="1E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035040"/>
            <a:ext cx="12191695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6053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IBM Plex Mono"/>
              </a:rPr>
              <a:t>1,000+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327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Loans Closed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6053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IBM Plex Mono"/>
              </a:rPr>
              <a:t>9+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6327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Years in Austin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053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IBM Plex Mono"/>
              </a:rPr>
              <a:t>2,441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327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Active Contacts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6053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IBM Plex Mono"/>
              </a:rPr>
              <a:t>816+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59" y="6327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Loans in LoanOS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274320"/>
            <a:ext cx="2286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7432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One platform. Five modules. Zero tool-switching.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2560320"/>
            <a:ext cx="2423160" cy="1188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267004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0B18"/>
                </a:solidFill>
                <a:latin typeface="IBM Plex Mono"/>
              </a:rPr>
              <a:t>LoanOS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1546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0B18"/>
                </a:solidFill>
                <a:latin typeface="Inter"/>
              </a:rPr>
              <a:t>AI-Powered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210312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21031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CRM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210312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21031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023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560320"/>
            <a:ext cx="210312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0" y="2560320"/>
            <a:ext cx="21031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Automations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840480"/>
            <a:ext cx="210312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3840480"/>
            <a:ext cx="21031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4023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AI Agents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212080"/>
            <a:ext cx="210312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5212080"/>
            <a:ext cx="21031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5394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Calculators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23560"/>
            <a:ext cx="1828800" cy="5486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5623560"/>
            <a:ext cx="1828800" cy="22860"/>
          </a:xfrm>
          <a:prstGeom prst="rect">
            <a:avLst/>
          </a:prstGeom>
          <a:solidFill>
            <a:srgbClr val="2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715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BM Plex Mono"/>
              </a:rPr>
              <a:t>Arive (LOS)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623560"/>
            <a:ext cx="1828800" cy="5486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0" y="5623560"/>
            <a:ext cx="1828800" cy="22860"/>
          </a:xfrm>
          <a:prstGeom prst="rect">
            <a:avLst/>
          </a:prstGeom>
          <a:solidFill>
            <a:srgbClr val="2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5715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BM Plex Mono"/>
              </a:rPr>
              <a:t>Outlook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5623560"/>
            <a:ext cx="1828800" cy="5486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37760" y="5623560"/>
            <a:ext cx="1828800" cy="22860"/>
          </a:xfrm>
          <a:prstGeom prst="rect">
            <a:avLst/>
          </a:prstGeom>
          <a:solidFill>
            <a:srgbClr val="2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5715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BM Plex Mono"/>
              </a:rPr>
              <a:t>Mailchimp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5623560"/>
            <a:ext cx="1828800" cy="5486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49440" y="5623560"/>
            <a:ext cx="1828800" cy="22860"/>
          </a:xfrm>
          <a:prstGeom prst="rect">
            <a:avLst/>
          </a:prstGeom>
          <a:solidFill>
            <a:srgbClr val="2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5715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BM Plex Mono"/>
              </a:rPr>
              <a:t>Supabase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5623560"/>
            <a:ext cx="1828800" cy="5486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20" y="5623560"/>
            <a:ext cx="1828800" cy="22860"/>
          </a:xfrm>
          <a:prstGeom prst="rect">
            <a:avLst/>
          </a:prstGeom>
          <a:solidFill>
            <a:srgbClr val="2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5715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BM Plex Mono"/>
              </a:rPr>
              <a:t>n8n + Claude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413248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66"/>
                </a:solidFill>
                <a:latin typeface="Inter"/>
              </a:rPr>
              <a:t>Integrations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274320"/>
            <a:ext cx="2286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7432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Feature: Automations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The work that used to take 10–15 minutes per loan event — automated.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557784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50292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554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Pre-Approval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65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Upload PDF → email drafted in 30 sec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63040"/>
            <a:ext cx="557784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50292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554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Referral Intro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65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Personalized intro to new buyer leads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651760"/>
            <a:ext cx="557784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651760"/>
            <a:ext cx="50292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27432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Final CD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154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10-field extraction → Outlook draft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651760"/>
            <a:ext cx="557784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651760"/>
            <a:ext cx="50292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7432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Loan Milestone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154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Borrower + realtor notified simultaneously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840480"/>
            <a:ext cx="557784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840480"/>
            <a:ext cx="50292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3931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Post-Closing Review 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343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Google &amp; Zillow review ask, auto-drafted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840480"/>
            <a:ext cx="557784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840480"/>
            <a:ext cx="50292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931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Inbound Email Sync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343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Pipeline updated from incoming emails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029200"/>
            <a:ext cx="557784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5029200"/>
            <a:ext cx="50292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" y="5120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120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Refi Intake 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532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IFW upload → complete intake email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029200"/>
            <a:ext cx="557784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5080" y="5029200"/>
            <a:ext cx="50292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64808" y="5120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120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New Application Received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532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Salesforce + Apple Contacts + intro email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274320"/>
            <a:ext cx="2286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7432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Feature: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Powered by Claude AI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3657600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08760"/>
            <a:ext cx="365760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Inter"/>
              </a:rPr>
              <a:t>Daily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Claude reads the full pipeline every morning.
Generates 7 prioritized action items before you touch your phone.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08760"/>
            <a:ext cx="3657600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365760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Inter"/>
              </a:rPr>
              <a:t>AI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488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Every contact and loan has a chat panel with full context.
Ask anything. Get answers grounded in your actual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508760"/>
            <a:ext cx="3657600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1508760"/>
            <a:ext cx="365760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9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Inter"/>
              </a:rPr>
              <a:t>Outreach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9" y="21488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Select contacts. Describe what you want.
Get personalized emails — one per contact, ready to send.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709160"/>
            <a:ext cx="1133856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709160"/>
            <a:ext cx="50292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006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FFFFFF"/>
                </a:solidFill>
                <a:latin typeface="Inter"/>
              </a:rPr>
              <a:t>"It's like having a Chief of Staff who read your entire pipeline before you got to the office."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5440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BM Plex Mono"/>
              </a:rPr>
              <a:t>— Adam Styer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274320"/>
            <a:ext cx="2286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7432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Feature: CRM +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Replaces Jungo — without the Salesforce tax.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539496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08760"/>
            <a:ext cx="539496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IBM Plex Mono"/>
              </a:rPr>
              <a:t>CRM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4884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2,441 contacts — importable, searchable, filterable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974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Smart lists: filter by stage, source, loan 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33756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918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Inline editing — no separate record pages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93192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Bulk actions: tag, reassign, email groups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52628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Salesforce-style fields, none of the Salesforce overhead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508760"/>
            <a:ext cx="557784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508760"/>
            <a:ext cx="557784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IBM Plex Mono"/>
              </a:rPr>
              <a:t>Loan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14884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816+ loans — live from Arive via webhook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724912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67919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Real-time milestone sync with your LOS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300984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25526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Rate lock countdown — never miss a deadline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877056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31335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Milestone timeline with days-since tracking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453128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Borrower + realtor contact linked to every 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502920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983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Status board: App → UW → CTC → Closed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89788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IBM Plex Mono"/>
              </a:rPr>
              <a:t>2,441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263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Contacts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IBM Plex Mono"/>
              </a:rPr>
              <a:t>816+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6263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Loans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IBM Plex Mono"/>
              </a:rPr>
              <a:t>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6263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Arive Sync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IBM Plex Mono"/>
              </a:rPr>
              <a:t>Real-time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6263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Milestone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274320"/>
            <a:ext cx="2286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7432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Feature: Calculator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Replaces Mortgage Coach — with AI explanations built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557784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08760"/>
            <a:ext cx="5577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IBM Plex Mono"/>
              </a:rP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Loan Scenario Comparator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Side-by-side loan options — rate, payment, cash-to-close.
AI writes a plain-English narrative for the borrower.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508760"/>
            <a:ext cx="557784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508760"/>
            <a:ext cx="5577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2708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IBM Plex Mono"/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45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Refi 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Full break-even analysis: monthly savings, payback period,
cost vs. benefit. AI summary included.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94760"/>
            <a:ext cx="5577840" cy="210312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794760"/>
            <a:ext cx="5577840" cy="36576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66"/>
                </a:solidFill>
                <a:latin typeface="IBM Plex Mono"/>
              </a:rPr>
              <a:t>COMING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31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Rent vs. Buy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8056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Help prospects understand their true cost of renting
vs. owning over 5, 10, 30 years.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794760"/>
            <a:ext cx="5577840" cy="210312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794760"/>
            <a:ext cx="5577840" cy="36576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2708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66"/>
                </a:solidFill>
                <a:latin typeface="IBM Plex Mono"/>
              </a:rPr>
              <a:t>COMING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31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Buy Now vs. Wait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48056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Model the cost of waiting 6–12 months at different rate
and price scenarios.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274320"/>
            <a:ext cx="2286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7432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Competitive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One platform vs. the fragmented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29260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BM Plex Mono"/>
              </a:rP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1645920" cy="4754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B18"/>
                </a:solidFill>
                <a:latin typeface="IBM Plex Mono"/>
              </a:rPr>
              <a:t>LoanOS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1463040"/>
            <a:ext cx="16459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IBM Plex Mono"/>
              </a:rPr>
              <a:t>Jungo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1463040"/>
            <a:ext cx="16459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IBM Plex Mono"/>
              </a:rPr>
              <a:t>BNTouch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463040"/>
            <a:ext cx="219456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IBM Plex Mono"/>
              </a:rPr>
              <a:t>Mortgage Coach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38528"/>
            <a:ext cx="292608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BM Plex Mono"/>
              </a:rPr>
              <a:t>CRM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1938528"/>
            <a:ext cx="1645920" cy="457200"/>
          </a:xfrm>
          <a:prstGeom prst="rect">
            <a:avLst/>
          </a:prstGeom>
          <a:solidFill>
            <a:srgbClr val="12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1938528"/>
            <a:ext cx="2743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IBM Plex Mono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1938528"/>
            <a:ext cx="164592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6644"/>
                </a:solidFill>
                <a:latin typeface="IBM Plex Mono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1938528"/>
            <a:ext cx="164592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6644"/>
                </a:solidFill>
                <a:latin typeface="IBM Plex Mono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1938528"/>
            <a:ext cx="219456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423160"/>
            <a:ext cx="29260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BM Plex Mono"/>
              </a:rPr>
              <a:t>Loan 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2423160"/>
            <a:ext cx="1645920" cy="457200"/>
          </a:xfrm>
          <a:prstGeom prst="rect">
            <a:avLst/>
          </a:prstGeom>
          <a:solidFill>
            <a:srgbClr val="12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2423160"/>
            <a:ext cx="2743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2496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IBM Plex Mono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480" y="2423160"/>
            <a:ext cx="16459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2496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2423160"/>
            <a:ext cx="16459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2496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6644"/>
                </a:solidFill>
                <a:latin typeface="IBM Plex Mono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2423160"/>
            <a:ext cx="219456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2496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907792"/>
            <a:ext cx="292608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9809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BM Plex Mono"/>
              </a:rPr>
              <a:t>AI-Written Emails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2907792"/>
            <a:ext cx="1645920" cy="457200"/>
          </a:xfrm>
          <a:prstGeom prst="rect">
            <a:avLst/>
          </a:prstGeom>
          <a:solidFill>
            <a:srgbClr val="12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37560" y="2907792"/>
            <a:ext cx="2743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0" y="29809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IBM Plex Mono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2907792"/>
            <a:ext cx="164592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29809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29400" y="2907792"/>
            <a:ext cx="164592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29809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20" y="2907792"/>
            <a:ext cx="219456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2980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392424"/>
            <a:ext cx="29260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34655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BM Plex Mono"/>
              </a:rPr>
              <a:t>Daily AI Briefing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37560" y="3392424"/>
            <a:ext cx="1645920" cy="457200"/>
          </a:xfrm>
          <a:prstGeom prst="rect">
            <a:avLst/>
          </a:prstGeom>
          <a:solidFill>
            <a:srgbClr val="12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37560" y="3392424"/>
            <a:ext cx="2743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29000" y="34655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IBM Plex Mono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83480" y="3392424"/>
            <a:ext cx="16459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34655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29400" y="3392424"/>
            <a:ext cx="16459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20840" y="34655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3392424"/>
            <a:ext cx="219456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6760" y="34655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3877056"/>
            <a:ext cx="292608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3950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BM Plex Mono"/>
              </a:rPr>
              <a:t>Arive LOS Sync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37560" y="3877056"/>
            <a:ext cx="1645920" cy="457200"/>
          </a:xfrm>
          <a:prstGeom prst="rect">
            <a:avLst/>
          </a:prstGeom>
          <a:solidFill>
            <a:srgbClr val="12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37560" y="3877056"/>
            <a:ext cx="2743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29000" y="3950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IBM Plex Mono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83480" y="3877056"/>
            <a:ext cx="164592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74920" y="3950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29400" y="3877056"/>
            <a:ext cx="164592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20840" y="3950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75320" y="3877056"/>
            <a:ext cx="219456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6760" y="3950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361688"/>
            <a:ext cx="29260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BM Plex Mono"/>
              </a:rPr>
              <a:t>Calculator Suite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37560" y="4361688"/>
            <a:ext cx="1645920" cy="457200"/>
          </a:xfrm>
          <a:prstGeom prst="rect">
            <a:avLst/>
          </a:prstGeom>
          <a:solidFill>
            <a:srgbClr val="12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37560" y="4361688"/>
            <a:ext cx="2743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2900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IBM Plex Mono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83480" y="4361688"/>
            <a:ext cx="16459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7492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29400" y="4361688"/>
            <a:ext cx="16459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2084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75320" y="4361688"/>
            <a:ext cx="219456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6676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6644"/>
                </a:solidFill>
                <a:latin typeface="IBM Plex Mono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4846320"/>
            <a:ext cx="292608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BM Plex Mono"/>
              </a:rPr>
              <a:t>Built by a Working LO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37560" y="4846320"/>
            <a:ext cx="1645920" cy="457200"/>
          </a:xfrm>
          <a:prstGeom prst="rect">
            <a:avLst/>
          </a:prstGeom>
          <a:solidFill>
            <a:srgbClr val="12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337560" y="4846320"/>
            <a:ext cx="2743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29000" y="4919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IBM Plex Mono"/>
              </a:rP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83480" y="4846320"/>
            <a:ext cx="164592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74920" y="4919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29400" y="4846320"/>
            <a:ext cx="164592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720840" y="4919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75320" y="4846320"/>
            <a:ext cx="2194560" cy="45720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366760" y="4919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3333"/>
                </a:solidFill>
                <a:latin typeface="IBM Plex Mono"/>
              </a:rPr>
              <a:t>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5330952"/>
            <a:ext cx="29260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2920" y="54041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BM Plex Mono"/>
              </a:rPr>
              <a:t>Monthly Cost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37560" y="5330952"/>
            <a:ext cx="1645920" cy="457200"/>
          </a:xfrm>
          <a:prstGeom prst="rect">
            <a:avLst/>
          </a:prstGeom>
          <a:solidFill>
            <a:srgbClr val="12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337560" y="5330952"/>
            <a:ext cx="2743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429000" y="54041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IBM Plex Mono"/>
              </a:rPr>
              <a:t>TBD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983480" y="5330952"/>
            <a:ext cx="16459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74920" y="54041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BM Plex Mono"/>
              </a:rPr>
              <a:t>$200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29400" y="5330952"/>
            <a:ext cx="16459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20840" y="54041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BM Plex Mono"/>
              </a:rPr>
              <a:t>$150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275320" y="5330952"/>
            <a:ext cx="219456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66760" y="54041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BM Plex Mono"/>
              </a:rPr>
              <a:t>$99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274320"/>
            <a:ext cx="2286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7432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Real usage. Real loans. Real production LO — every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65176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265176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IBM Plex Mono"/>
              </a:rPr>
              <a:t>2,441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Contacts in CRM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65176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265176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IBM Plex Mono"/>
              </a:rPr>
              <a:t>816+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Loans in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265176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265176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IBM Plex Mon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Active Automations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463040"/>
            <a:ext cx="265176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463040"/>
            <a:ext cx="265176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IBM Plex Mono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Production Usage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07792"/>
            <a:ext cx="112471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91640" y="2788920"/>
            <a:ext cx="274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246120"/>
            <a:ext cx="274320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24612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  <a:latin typeface="IBM Plex Mono"/>
              </a:rPr>
              <a:t>Phase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675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Foundation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IBM Plex Mono"/>
              </a:rPr>
              <a:t>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788920"/>
            <a:ext cx="27432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3246120"/>
            <a:ext cx="274320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37560" y="324612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  <a:latin typeface="IBM Plex Mono"/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675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Automation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IBM Plex Mono"/>
              </a:rPr>
              <a:t>95% COMPLETE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2788920"/>
            <a:ext cx="274320" cy="274320"/>
          </a:xfrm>
          <a:prstGeom prst="rect">
            <a:avLst/>
          </a:prstGeom>
          <a:solidFill>
            <a:srgbClr val="2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246120"/>
            <a:ext cx="274320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IBM Plex Mono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675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Calculator Suite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5566"/>
                </a:solidFill>
                <a:latin typeface="IBM Plex Mono"/>
              </a:rPr>
              <a:t>IN PROGRESS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32720" y="2788920"/>
            <a:ext cx="274320" cy="274320"/>
          </a:xfrm>
          <a:prstGeom prst="rect">
            <a:avLst/>
          </a:prstGeom>
          <a:solidFill>
            <a:srgbClr val="2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8280" y="3246120"/>
            <a:ext cx="274320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IBM Plex Mono"/>
              </a:rPr>
              <a:t>Phase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3675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SaaS / Multi-Tenant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5566"/>
                </a:solidFill>
                <a:latin typeface="IBM Plex Mono"/>
              </a:rPr>
              <a:t>COMING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274320"/>
            <a:ext cx="2286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74320"/>
            <a:ext cx="27432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Phase 4 — The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Multi-tenant SaaS. White-label 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5394960" cy="4206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08760"/>
            <a:ext cx="50292" cy="4206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IBM Plex Mono"/>
              </a:rPr>
              <a:t>Business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94560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Multi-tenant architecture — each LO gets their own workspace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834639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Stripe billing — $99–149/mo per licensed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474720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White-label theming — your brand, your colors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114800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690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Admin dashboard — manage users, billing, usage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754879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Founding member pricing locked for early adopters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508760"/>
            <a:ext cx="5486400" cy="4206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508760"/>
            <a:ext cx="5486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IBM Plex Mono"/>
              </a:rPr>
              <a:t>Revenue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IBM Plex Mono"/>
              </a:rP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Target Licensed LOs (Year 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108960"/>
            <a:ext cx="50292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37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IBM Plex Mono"/>
              </a:rPr>
              <a:t>$99–149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Monthly License Fee per LO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297680"/>
            <a:ext cx="50292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526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IBM Plex Mono"/>
              </a:rPr>
              <a:t>$10K–15K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Monthly Recurring Revenue Target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91695" cy="640080"/>
          </a:xfrm>
          <a:prstGeom prst="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C9A84C"/>
                </a:solidFill>
                <a:latin typeface="Inter"/>
              </a:rPr>
              <a:t>You're getting in at the ground floor — before the public launch.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A40"/>
                </a:solidFill>
                <a:latin typeface="IBM Plex Mono"/>
              </a:rPr>
              <a:t>LOANOS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722E"/>
                </a:solidFill>
                <a:latin typeface="IBM Plex Mono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64008" cy="5029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Inter"/>
              </a:rPr>
              <a:t>Join the waitlist.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Inter"/>
              </a:rPr>
              <a:t>Get founding member pricing.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  <a:latin typeface="Inter"/>
              </a:rPr>
              <a:t>Shape the roadmap.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105156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IBM Plex Mono"/>
              </a:rPr>
              <a:t>Early adopters get: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03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Locked-in founding member pricing — never increases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Direct product input — your use case shapes the 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Priority onboarding — white-glove setup, 1:1 with Adam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89788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961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IBM Plex Mono"/>
              </a:rPr>
              <a:t>Adam Styer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96188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BM Plex Mono"/>
              </a:rPr>
              <a:t>adam@thestyerteam.com  ·  NMLS #513013  ·  Austin, 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59618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A84C"/>
                </a:solidFill>
                <a:latin typeface="IBM Plex Mono"/>
              </a:rPr>
              <a:t>styermortgage.com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